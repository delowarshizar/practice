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4"/>
  </p:notesMasterIdLst>
  <p:sldIdLst>
    <p:sldId id="256" r:id="rId2"/>
    <p:sldId id="264" r:id="rId3"/>
    <p:sldId id="280" r:id="rId4"/>
    <p:sldId id="303" r:id="rId5"/>
    <p:sldId id="302" r:id="rId6"/>
    <p:sldId id="299" r:id="rId7"/>
    <p:sldId id="305" r:id="rId8"/>
    <p:sldId id="301" r:id="rId9"/>
    <p:sldId id="298" r:id="rId10"/>
    <p:sldId id="304" r:id="rId11"/>
    <p:sldId id="300" r:id="rId12"/>
    <p:sldId id="295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56" autoAdjust="0"/>
    <p:restoredTop sz="96168" autoAdjust="0"/>
  </p:normalViewPr>
  <p:slideViewPr>
    <p:cSldViewPr>
      <p:cViewPr varScale="1">
        <p:scale>
          <a:sx n="111" d="100"/>
          <a:sy n="111" d="100"/>
        </p:scale>
        <p:origin x="540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759200" y="3222625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962401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dirty="0">
                <a:solidFill>
                  <a:srgbClr val="7030A0"/>
                </a:solidFill>
              </a:rPr>
              <a:t>Optimization of Compost Application Using Data-Driven Soil Analysis and a Reinforcement Learning Model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86200" y="3733800"/>
            <a:ext cx="4800600" cy="2438400"/>
          </a:xfrm>
        </p:spPr>
        <p:txBody>
          <a:bodyPr rtlCol="0">
            <a:normAutofit/>
          </a:bodyPr>
          <a:lstStyle/>
          <a:p>
            <a:endParaRPr 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Delowar Husain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0242220005101453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Sohag Ali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0242220005101426</a:t>
            </a:r>
          </a:p>
          <a:p>
            <a:endParaRPr lang="en-US" sz="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0702" y="1371600"/>
            <a:ext cx="10972800" cy="3962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Study/Literature Review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Motivation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this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Datasets, Tools and Techniques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295400"/>
            <a:ext cx="10896600" cy="449580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buFont typeface="Wingdings" pitchFamily="2" charset="2"/>
              <a:buChar char="Ø"/>
            </a:pPr>
            <a:r>
              <a:rPr lang="en-US" sz="1850" b="1" dirty="0">
                <a:solidFill>
                  <a:srgbClr val="7030A0"/>
                </a:solidFill>
                <a:latin typeface="Times New Roman" pitchFamily="18" charset="0"/>
              </a:rPr>
              <a:t>Problem: </a:t>
            </a:r>
            <a:r>
              <a:rPr lang="en-US" sz="1850" dirty="0">
                <a:solidFill>
                  <a:schemeClr val="tx1"/>
                </a:solidFill>
                <a:latin typeface="Times New Roman" pitchFamily="18" charset="0"/>
              </a:rPr>
              <a:t>Improper compost application is a leading cause of suboptimal crop yields and long-term soil degradation worldwide</a:t>
            </a:r>
          </a:p>
          <a:p>
            <a:pPr>
              <a:lnSpc>
                <a:spcPct val="115000"/>
              </a:lnSpc>
              <a:buFont typeface="Wingdings" pitchFamily="2" charset="2"/>
              <a:buChar char="Ø"/>
            </a:pPr>
            <a:r>
              <a:rPr lang="en-US" sz="1850" b="1" dirty="0">
                <a:solidFill>
                  <a:srgbClr val="7030A0"/>
                </a:solidFill>
                <a:latin typeface="Times New Roman" pitchFamily="18" charset="0"/>
              </a:rPr>
              <a:t>Compost Benefits: </a:t>
            </a:r>
            <a:r>
              <a:rPr lang="en-US" sz="1850" dirty="0">
                <a:solidFill>
                  <a:schemeClr val="tx1"/>
                </a:solidFill>
                <a:latin typeface="Times New Roman" pitchFamily="18" charset="0"/>
              </a:rPr>
              <a:t>Rich in NPK macro/micronutrients; improves soil structure, water retention, and microbial activity — but highly dose-sensitive</a:t>
            </a:r>
          </a:p>
          <a:p>
            <a:pPr>
              <a:lnSpc>
                <a:spcPct val="115000"/>
              </a:lnSpc>
              <a:buFont typeface="Wingdings" pitchFamily="2" charset="2"/>
              <a:buChar char="Ø"/>
            </a:pPr>
            <a:r>
              <a:rPr lang="en-US" sz="1850" b="1" dirty="0">
                <a:solidFill>
                  <a:srgbClr val="7030A0"/>
                </a:solidFill>
                <a:latin typeface="Times New Roman" pitchFamily="18" charset="0"/>
              </a:rPr>
              <a:t>Challenge: </a:t>
            </a:r>
            <a:r>
              <a:rPr lang="en-US" sz="1850" dirty="0">
                <a:solidFill>
                  <a:schemeClr val="tx1"/>
                </a:solidFill>
                <a:latin typeface="Times New Roman" pitchFamily="18" charset="0"/>
              </a:rPr>
              <a:t>Optimal quantity, timing &amp; frequency governed by dynamic soil properties (moisture, pH, temperature, EC, NPK) that vary across plots and time</a:t>
            </a:r>
          </a:p>
          <a:p>
            <a:pPr>
              <a:lnSpc>
                <a:spcPct val="115000"/>
              </a:lnSpc>
              <a:buFont typeface="Wingdings" pitchFamily="2" charset="2"/>
              <a:buChar char="Ø"/>
            </a:pPr>
            <a:r>
              <a:rPr lang="en-US" sz="1850" b="1" dirty="0">
                <a:solidFill>
                  <a:srgbClr val="7030A0"/>
                </a:solidFill>
                <a:latin typeface="Times New Roman" pitchFamily="18" charset="0"/>
              </a:rPr>
              <a:t>Opportunity: </a:t>
            </a:r>
            <a:r>
              <a:rPr lang="en-US" sz="1850" dirty="0">
                <a:solidFill>
                  <a:schemeClr val="tx1"/>
                </a:solidFill>
                <a:latin typeface="Times New Roman" pitchFamily="18" charset="0"/>
              </a:rPr>
              <a:t>Low-cost IoT sensors now enable real-time, continuous multi-parameter soil monitoring at field scale</a:t>
            </a:r>
          </a:p>
          <a:p>
            <a:pPr>
              <a:lnSpc>
                <a:spcPct val="115000"/>
              </a:lnSpc>
              <a:buFont typeface="Wingdings" pitchFamily="2" charset="2"/>
              <a:buChar char="Ø"/>
            </a:pPr>
            <a:r>
              <a:rPr lang="en-US" sz="1850" b="1" dirty="0">
                <a:solidFill>
                  <a:srgbClr val="7030A0"/>
                </a:solidFill>
                <a:latin typeface="Times New Roman" pitchFamily="18" charset="0"/>
              </a:rPr>
              <a:t>This Project: </a:t>
            </a:r>
            <a:r>
              <a:rPr lang="en-US" sz="1850" dirty="0">
                <a:solidFill>
                  <a:schemeClr val="tx1"/>
                </a:solidFill>
                <a:latin typeface="Times New Roman" pitchFamily="18" charset="0"/>
              </a:rPr>
              <a:t>Proposes an intelligent, data-driven framework integrating real-time sensor data with supervised ML regression and an RL agent (Phase II) to recommend optimal compost dosage at 1 m² scale</a:t>
            </a:r>
          </a:p>
          <a:p>
            <a:pPr>
              <a:lnSpc>
                <a:spcPct val="115000"/>
              </a:lnSpc>
              <a:buFont typeface="Wingdings" pitchFamily="2" charset="2"/>
              <a:buChar char="Ø"/>
            </a:pPr>
            <a:r>
              <a:rPr lang="en-US" sz="1850" b="1" dirty="0">
                <a:solidFill>
                  <a:srgbClr val="7030A0"/>
                </a:solidFill>
                <a:latin typeface="Times New Roman" pitchFamily="18" charset="0"/>
              </a:rPr>
              <a:t>Phase I Goal: </a:t>
            </a:r>
            <a:r>
              <a:rPr lang="en-US" sz="1850" dirty="0">
                <a:solidFill>
                  <a:schemeClr val="tx1"/>
                </a:solidFill>
                <a:latin typeface="Times New Roman" pitchFamily="18" charset="0"/>
              </a:rPr>
              <a:t>Build a clean analytical pipeline — EDA, statistical analysis, and supervised ML model training &amp; evaluation — to lay the groundwork for Phase II RL-based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71600"/>
            <a:ext cx="10972800" cy="396240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</a:rPr>
              <a:t>Traditional Compost Management: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</a:rPr>
              <a:t>Based on empirical rules-of-thumb; fails to address spatial and temporal variability in soil conditions [1]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</a:rPr>
              <a:t>IoT-Based Soil Monitoring: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</a:rPr>
              <a:t>Low-cost sensors (moisture, pH, EC, NPK) enable real-time field data collection with minimal infrastructure [2]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</a:rPr>
              <a:t>ML Regression Models: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</a:rPr>
              <a:t>Linear Regression, Ridge, SVR, MLP/ANN applied to predict nutrient levels; effectiveness depends on leakage control and proper validation [3]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</a:rPr>
              <a:t>Reinforcement Learning (RL):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</a:rPr>
              <a:t>Agent learns optimal dosing via reward-based interaction; soil state = observation, compost dose = action, reward = alignment with optimal dose [4]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</a:rPr>
              <a:t>Smart Composting &amp; Precision Agriculture: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</a:rPr>
              <a:t>IoT + ML frameworks validated for rice crops [13]; RL reviewed for crop management [11]; ML + RL integration for compost remains an open research gap [12]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A606-7A4D-49E8-FD3D-682102C9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1064-DDC2-8140-E554-385A791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B71-21FD-04D6-556B-38CE32A5E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57300"/>
            <a:ext cx="10972800" cy="43434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No Real-Time Sensor-Driven Recommendations: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Most systems rely on periodic lab tests, not continuous IoT data — limiting responsiveness to dynamic soil changes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Temporal Data Leakage in ML Models: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Published models use random train-test splits on time-ordered data, causing data leakage and inflated performance metrics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Plot-ID Data Leakage: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Including Plot_ID as a feature lets models memorize dose-to-plot mappings instead of learning actual soil dynamics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No Group-Aware Cross-Validation: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Standard k-fold mixes data from the same plot across folds, overestimating generalization to truly unseen plots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No ML + RL Integrated Framework: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Existing tools are reactive (threshold-based), not learning-based; no RL agent for forward-looking, multi-step compost dosing policy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Scalability Gap: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Recommendations fixed to specific plot sizes; this project standardizes outputs to 1 m² scale for portability across any field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18D-A965-E706-08E3-07D58DEAE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7E1D-7696-3342-8575-E29B24C5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CC6-4944-BAC2-F177-2B401DFE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 and 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63C8-4F0D-351E-DE6B-3C8A65B7E0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371600"/>
            <a:ext cx="10972800" cy="39624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Data Collection &amp; Preprocessing: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Collect, clean, and preprocess multivariate soil sensor data (moisture, temp, pH, EC, salinity, N, P, K) from 5 plots × 3 readings/day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Exploratory Data Analysis (EDA):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Normality tests (Shapiro-Wilk), inter-plot boxplots, Pearson correlation heatmap, temporal trend analysis, scatter-plot visualization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ML Model Training &amp; Evaluation: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Train and compare Linear Regression, Ridge, SVR, and MLP/ANN using GroupKFold cross-validation for plot-level generalizability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Best Model Identification: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Select optimal model based on RMSE, MAE, R², MAPE, and CV-R²; analyze feature importance via permutation importance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900" b="1" dirty="0">
                <a:solidFill>
                  <a:srgbClr val="7030A0"/>
                </a:solidFill>
                <a:latin typeface="Times New Roman" pitchFamily="18" charset="0"/>
              </a:rPr>
              <a:t>Phase II Foundation: 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</a:rPr>
              <a:t>Lay groundwork for an RL-based compost optimization agent and a deployable real-time recommendation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EF74-9626-B0FA-E21C-74A5BD2BB1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EA374-0621-901C-029F-320D7883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DF10-2067-7833-5DF2-A2FF920BA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this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F2B6D-27C7-A6FE-F1C7-03602599DA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5400"/>
            <a:ext cx="10972800" cy="4114800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real-world, multi-plot soil sensor dataset with temporal measurements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handling of plot-ID leakage, preventing model memorization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key soil parameters (N, P, K) through statistical and feature analysis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of discrete compost data into continuous prediction framework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an RL agent for adaptive, long-term soil optimization (Phase II)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of recommendations at per square meter (1 m²) scale, ensuring scalability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 from sensor data → prediction → decision system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Plot_ID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excluded to prevent memorization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03BCC-CA24-7A7C-EA06-F5F16534B8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42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7AD-9C97-23E1-7CCC-1BD92A6E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0B3-F19E-7C6E-5F6E-3BD95AE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Datasets, 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DA11-A15F-956C-D182-0D413DDC78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387748"/>
            <a:ext cx="10972800" cy="3962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marL="0" indent="0">
              <a:buNone/>
            </a:pP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experimental plots (A–E), 15 days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readings/day → Morning, Afternoon, Evening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Total: 1125 samples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Moisture, Temperature, pH, N, P, K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EC, Salinity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0" indent="0">
              <a:buNone/>
            </a:pP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(Pandas, NumPy, Scikit-learn)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model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2EFF-F92F-B5AA-C42F-5484AB53EB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4CC25-E936-3801-142E-845EC85CF7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5"/>
          <a:stretch>
            <a:fillRect/>
          </a:stretch>
        </p:blipFill>
        <p:spPr bwMode="auto">
          <a:xfrm>
            <a:off x="5791200" y="1863906"/>
            <a:ext cx="5918200" cy="31301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8445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4BF0E7-4CB3-E5E7-6E44-D4D0F3AAE2E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295400"/>
            <a:ext cx="10287000" cy="451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5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1371" y="1447800"/>
            <a:ext cx="10972800" cy="396240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</a:rPr>
              <a:t>High-Accuracy Soil Analysis Model: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</a:rPr>
              <a:t>SVR achieves R²=0.9797 and MAPE=6.73% — best performing model for compost dose prediction from 8 soil parameters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</a:rPr>
              <a:t>Key Insight — NPK as Primary Predictors: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</a:rPr>
              <a:t>N, P, K show clear increasing trend with compost dose and are confirmed as strongest features via permutation importance analysis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</a:rPr>
              <a:t>Leakage-Free, Generalizable Pipeline: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</a:rPr>
              <a:t>Time-based splitting and GroupKFold CV ensure models generalize to unseen plots — validated to be free of plot-ID and temporal leakage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</a:rPr>
              <a:t>Scalable Recommendation Framework: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</a:rPr>
              <a:t>All dosage outputs normalized to 1 m² scale (×4 multiplier from 0.25 m² plots), enabling deployment to any field size without re-training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</a:rPr>
              <a:t>Phase II Ready: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</a:rPr>
              <a:t>Analytical pipeline, dataset, and best-model baseline established — groundwork complete for RL agent training and real-time mobile app deployment in Phase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4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7963-5E83-1ED3-106C-70223D0A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561-8C72-6804-E4E6-A84D47F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6389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Results &amp; ML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29DB-5137-851D-5D9C-7B22F7C5E8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10972800" cy="4038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on Test Set:</a:t>
            </a:r>
          </a:p>
          <a:p>
            <a:pPr marL="0" indent="0">
              <a:buNone/>
            </a:pPr>
            <a:endParaRPr lang="en-US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EDA Findings:</a:t>
            </a:r>
          </a:p>
          <a:p>
            <a:pPr>
              <a:buFont typeface="Wingdings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N, P, K show clear increasing trend with compost dose - strongest predictors in permutation importance</a:t>
            </a:r>
          </a:p>
          <a:p>
            <a:pPr>
              <a:buFont typeface="Wingdings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correlation: compost vs N, P, K | Moderate: EC, Salinity | Weak: Moisture, Temp, 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63EB-E6DC-C0C0-0768-E8865B8083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1E0DD5-16AE-10B1-0D3C-0FD71E6E4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394275"/>
              </p:ext>
            </p:extLst>
          </p:nvPr>
        </p:nvGraphicFramePr>
        <p:xfrm>
          <a:off x="609600" y="1981200"/>
          <a:ext cx="5998030" cy="2308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9606">
                  <a:extLst>
                    <a:ext uri="{9D8B030D-6E8A-4147-A177-3AD203B41FA5}">
                      <a16:colId xmlns:a16="http://schemas.microsoft.com/office/drawing/2014/main" val="3470661063"/>
                    </a:ext>
                  </a:extLst>
                </a:gridCol>
                <a:gridCol w="1199606">
                  <a:extLst>
                    <a:ext uri="{9D8B030D-6E8A-4147-A177-3AD203B41FA5}">
                      <a16:colId xmlns:a16="http://schemas.microsoft.com/office/drawing/2014/main" val="452296904"/>
                    </a:ext>
                  </a:extLst>
                </a:gridCol>
                <a:gridCol w="1199606">
                  <a:extLst>
                    <a:ext uri="{9D8B030D-6E8A-4147-A177-3AD203B41FA5}">
                      <a16:colId xmlns:a16="http://schemas.microsoft.com/office/drawing/2014/main" val="2267432240"/>
                    </a:ext>
                  </a:extLst>
                </a:gridCol>
                <a:gridCol w="1199606">
                  <a:extLst>
                    <a:ext uri="{9D8B030D-6E8A-4147-A177-3AD203B41FA5}">
                      <a16:colId xmlns:a16="http://schemas.microsoft.com/office/drawing/2014/main" val="2471386934"/>
                    </a:ext>
                  </a:extLst>
                </a:gridCol>
                <a:gridCol w="1199606">
                  <a:extLst>
                    <a:ext uri="{9D8B030D-6E8A-4147-A177-3AD203B41FA5}">
                      <a16:colId xmlns:a16="http://schemas.microsoft.com/office/drawing/2014/main" val="1204719937"/>
                    </a:ext>
                  </a:extLst>
                </a:gridCol>
              </a:tblGrid>
              <a:tr h="461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(kg/m²)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(kg/m²)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 (%)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8042103"/>
                  </a:ext>
                </a:extLst>
              </a:tr>
              <a:tr h="461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0.0841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11.7220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526949"/>
                  </a:ext>
                </a:extLst>
              </a:tr>
              <a:tr h="461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Regression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0.0995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0.0809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14.0402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8019929"/>
                  </a:ext>
                </a:extLst>
              </a:tr>
              <a:tr h="461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0.0806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0.0607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0.9797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6.7322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0974945"/>
                  </a:ext>
                </a:extLst>
              </a:tr>
              <a:tr h="461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/ ANN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0.1371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0.1085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10.7085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133459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86834C9-25BF-D350-388C-F0F1471700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111538"/>
            <a:ext cx="4876800" cy="230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0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35479" y="1676400"/>
            <a:ext cx="109728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</a:rPr>
              <a:t>THANK YOU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</a:rPr>
              <a:t>We welcome your questions &amp; feedback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</a:rPr>
              <a:t>Presented by: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Delowar Husain (ID: 0242220005101453)   |   Md. Sohag Ali (ID: 0242220005101426)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Supervisor: Dr. Fizar Ahmed   |   Co-Supervisor: Md. Asaduzzaman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Department of CSE, Daffodil International University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912</TotalTime>
  <Words>1103</Words>
  <Application>Microsoft Office PowerPoint</Application>
  <PresentationFormat>Widescreen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New Microsoft PowerPoint Presentation</vt:lpstr>
      <vt:lpstr>Optimization of Compost Application Using Data-Driven Soil Analysis and a Reinforcement Learning Model</vt:lpstr>
      <vt:lpstr>Outline</vt:lpstr>
      <vt:lpstr>Introduction</vt:lpstr>
      <vt:lpstr>Background Study</vt:lpstr>
      <vt:lpstr>Gap Analysis</vt:lpstr>
      <vt:lpstr>Objective and Motivation </vt:lpstr>
      <vt:lpstr>Novelty of this Study</vt:lpstr>
      <vt:lpstr>Datasets, Tools and Techniques</vt:lpstr>
      <vt:lpstr>Proposed Methodology</vt:lpstr>
      <vt:lpstr>Expected Outcomes</vt:lpstr>
      <vt:lpstr>Results &amp; ML Performance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Delowar Husain</cp:lastModifiedBy>
  <cp:revision>257</cp:revision>
  <dcterms:created xsi:type="dcterms:W3CDTF">2011-07-17T02:56:35Z</dcterms:created>
  <dcterms:modified xsi:type="dcterms:W3CDTF">2026-04-12T05:52:28Z</dcterms:modified>
</cp:coreProperties>
</file>